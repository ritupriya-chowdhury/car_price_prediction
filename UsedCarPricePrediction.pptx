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grandir Wide Bold" charset="1" panose="00000805000000000000"/>
      <p:regular r:id="rId12"/>
    </p:embeddedFont>
    <p:embeddedFont>
      <p:font typeface="Nunito" charset="1" panose="00000000000000000000"/>
      <p:regular r:id="rId13"/>
    </p:embeddedFont>
    <p:embeddedFont>
      <p:font typeface="Nunito Bold" charset="1" panose="00000000000000000000"/>
      <p:regular r:id="rId14"/>
    </p:embeddedFont>
    <p:embeddedFont>
      <p:font typeface="Inter Bold" charset="1" panose="02000503000000020004"/>
      <p:regular r:id="rId15"/>
    </p:embeddedFont>
    <p:embeddedFont>
      <p:font typeface="Arimo Bold" charset="1" panose="020B0704020202020204"/>
      <p:regular r:id="rId16"/>
    </p:embeddedFont>
    <p:embeddedFont>
      <p:font typeface="Inter" charset="1" panose="0200050300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12824" y="2164548"/>
            <a:ext cx="15003610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9"/>
              </a:lnSpc>
            </a:pPr>
            <a:r>
              <a:rPr lang="en-US" sz="4999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USED CAR PRICE PREDICTION USING MACHINE LEARNING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17141" y="4298709"/>
            <a:ext cx="13457406" cy="1086331"/>
            <a:chOff x="0" y="0"/>
            <a:chExt cx="3544337" cy="286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44338" cy="286112"/>
            </a:xfrm>
            <a:custGeom>
              <a:avLst/>
              <a:gdLst/>
              <a:ahLst/>
              <a:cxnLst/>
              <a:rect r="r" b="b" t="t" l="l"/>
              <a:pathLst>
                <a:path h="286112" w="3544338">
                  <a:moveTo>
                    <a:pt x="57529" y="0"/>
                  </a:moveTo>
                  <a:lnTo>
                    <a:pt x="3486808" y="0"/>
                  </a:lnTo>
                  <a:cubicBezTo>
                    <a:pt x="3502066" y="0"/>
                    <a:pt x="3516699" y="6061"/>
                    <a:pt x="3527488" y="16850"/>
                  </a:cubicBezTo>
                  <a:cubicBezTo>
                    <a:pt x="3538276" y="27639"/>
                    <a:pt x="3544338" y="42271"/>
                    <a:pt x="3544338" y="57529"/>
                  </a:cubicBezTo>
                  <a:lnTo>
                    <a:pt x="3544338" y="228583"/>
                  </a:lnTo>
                  <a:cubicBezTo>
                    <a:pt x="3544338" y="243840"/>
                    <a:pt x="3538276" y="258473"/>
                    <a:pt x="3527488" y="269262"/>
                  </a:cubicBezTo>
                  <a:cubicBezTo>
                    <a:pt x="3516699" y="280051"/>
                    <a:pt x="3502066" y="286112"/>
                    <a:pt x="3486808" y="286112"/>
                  </a:cubicBezTo>
                  <a:lnTo>
                    <a:pt x="57529" y="286112"/>
                  </a:lnTo>
                  <a:cubicBezTo>
                    <a:pt x="42271" y="286112"/>
                    <a:pt x="27639" y="280051"/>
                    <a:pt x="16850" y="269262"/>
                  </a:cubicBezTo>
                  <a:cubicBezTo>
                    <a:pt x="6061" y="258473"/>
                    <a:pt x="0" y="243840"/>
                    <a:pt x="0" y="228583"/>
                  </a:cubicBezTo>
                  <a:lnTo>
                    <a:pt x="0" y="57529"/>
                  </a:lnTo>
                  <a:cubicBezTo>
                    <a:pt x="0" y="42271"/>
                    <a:pt x="6061" y="27639"/>
                    <a:pt x="16850" y="16850"/>
                  </a:cubicBezTo>
                  <a:cubicBezTo>
                    <a:pt x="27639" y="6061"/>
                    <a:pt x="42271" y="0"/>
                    <a:pt x="57529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3544337" cy="381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86043" y="4473575"/>
            <a:ext cx="11719601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Evaluating Linear Regression vs. Random Forest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480786"/>
            <a:ext cx="9601708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000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01. PROBLEM &amp; CONTEXT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0618" y="5299630"/>
            <a:ext cx="4448931" cy="1939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29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Opaque valuation mechanisms in second-hand automotive markets.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83820" y="5299630"/>
            <a:ext cx="4446588" cy="1939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29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High-cardinality vehicle descriptions and non-linear target distributions.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96958" y="4620189"/>
            <a:ext cx="4899196" cy="2606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30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Prior studies focus on basic models without systematic feature engineering comparisons.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0618" y="3756344"/>
            <a:ext cx="4446588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High Price Volatility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83820" y="3648639"/>
            <a:ext cx="4446588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Unstructured Raw Data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96958" y="3699439"/>
            <a:ext cx="4029822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Research Gap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37663" y="723799"/>
            <a:ext cx="10422463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02. METHODOLOGY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37663" y="2306229"/>
            <a:ext cx="6038948" cy="1418618"/>
            <a:chOff x="0" y="0"/>
            <a:chExt cx="1590505" cy="3736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90505" cy="373628"/>
            </a:xfrm>
            <a:custGeom>
              <a:avLst/>
              <a:gdLst/>
              <a:ahLst/>
              <a:cxnLst/>
              <a:rect r="r" b="b" t="t" l="l"/>
              <a:pathLst>
                <a:path h="373628" w="1590505">
                  <a:moveTo>
                    <a:pt x="128200" y="0"/>
                  </a:moveTo>
                  <a:lnTo>
                    <a:pt x="1462305" y="0"/>
                  </a:lnTo>
                  <a:cubicBezTo>
                    <a:pt x="1496306" y="0"/>
                    <a:pt x="1528914" y="13507"/>
                    <a:pt x="1552956" y="37549"/>
                  </a:cubicBezTo>
                  <a:cubicBezTo>
                    <a:pt x="1576998" y="61591"/>
                    <a:pt x="1590505" y="94199"/>
                    <a:pt x="1590505" y="128200"/>
                  </a:cubicBezTo>
                  <a:lnTo>
                    <a:pt x="1590505" y="245428"/>
                  </a:lnTo>
                  <a:cubicBezTo>
                    <a:pt x="1590505" y="279429"/>
                    <a:pt x="1576998" y="312037"/>
                    <a:pt x="1552956" y="336079"/>
                  </a:cubicBezTo>
                  <a:cubicBezTo>
                    <a:pt x="1528914" y="360121"/>
                    <a:pt x="1496306" y="373628"/>
                    <a:pt x="1462305" y="373628"/>
                  </a:cubicBezTo>
                  <a:lnTo>
                    <a:pt x="128200" y="373628"/>
                  </a:lnTo>
                  <a:cubicBezTo>
                    <a:pt x="94199" y="373628"/>
                    <a:pt x="61591" y="360121"/>
                    <a:pt x="37549" y="336079"/>
                  </a:cubicBezTo>
                  <a:cubicBezTo>
                    <a:pt x="13507" y="312037"/>
                    <a:pt x="0" y="279429"/>
                    <a:pt x="0" y="245428"/>
                  </a:cubicBezTo>
                  <a:lnTo>
                    <a:pt x="0" y="128200"/>
                  </a:lnTo>
                  <a:cubicBezTo>
                    <a:pt x="0" y="94199"/>
                    <a:pt x="13507" y="61591"/>
                    <a:pt x="37549" y="37549"/>
                  </a:cubicBezTo>
                  <a:cubicBezTo>
                    <a:pt x="61591" y="13507"/>
                    <a:pt x="94199" y="0"/>
                    <a:pt x="128200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1590505" cy="468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8354" y="4670738"/>
            <a:ext cx="6081346" cy="1313642"/>
            <a:chOff x="0" y="0"/>
            <a:chExt cx="1601671" cy="3459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1672" cy="345980"/>
            </a:xfrm>
            <a:custGeom>
              <a:avLst/>
              <a:gdLst/>
              <a:ahLst/>
              <a:cxnLst/>
              <a:rect r="r" b="b" t="t" l="l"/>
              <a:pathLst>
                <a:path h="345980" w="1601672">
                  <a:moveTo>
                    <a:pt x="127306" y="0"/>
                  </a:moveTo>
                  <a:lnTo>
                    <a:pt x="1474366" y="0"/>
                  </a:lnTo>
                  <a:cubicBezTo>
                    <a:pt x="1544675" y="0"/>
                    <a:pt x="1601672" y="56997"/>
                    <a:pt x="1601672" y="127306"/>
                  </a:cubicBezTo>
                  <a:lnTo>
                    <a:pt x="1601672" y="218674"/>
                  </a:lnTo>
                  <a:cubicBezTo>
                    <a:pt x="1601672" y="288983"/>
                    <a:pt x="1544675" y="345980"/>
                    <a:pt x="1474366" y="345980"/>
                  </a:cubicBezTo>
                  <a:lnTo>
                    <a:pt x="127306" y="345980"/>
                  </a:lnTo>
                  <a:cubicBezTo>
                    <a:pt x="56997" y="345980"/>
                    <a:pt x="0" y="288983"/>
                    <a:pt x="0" y="218674"/>
                  </a:cubicBezTo>
                  <a:lnTo>
                    <a:pt x="0" y="127306"/>
                  </a:lnTo>
                  <a:cubicBezTo>
                    <a:pt x="0" y="56997"/>
                    <a:pt x="56997" y="0"/>
                    <a:pt x="127306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1601671" cy="441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60219" y="2469828"/>
            <a:ext cx="5157616" cy="1162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STEP 1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Logarithmic Transformation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50188" y="4712880"/>
            <a:ext cx="5053319" cy="1162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STEP 2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Feature Engineering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86199" y="2303067"/>
            <a:ext cx="7877990" cy="1272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29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Target price skewness reduced from 5.57 to -0.16 for normal distribution alignment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75298" y="4457647"/>
            <a:ext cx="7877990" cy="1272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29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Derived explicit Car_Age and extracted clean brand names from raw string labels.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17218" y="6588435"/>
            <a:ext cx="7877990" cy="1939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29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Linear Regression (LR) and Random Forest (RF) evaluated across baseline and feature-engineered configurations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44671" y="6953471"/>
            <a:ext cx="6064354" cy="1228815"/>
            <a:chOff x="0" y="0"/>
            <a:chExt cx="1597196" cy="32363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97196" cy="323638"/>
            </a:xfrm>
            <a:custGeom>
              <a:avLst/>
              <a:gdLst/>
              <a:ahLst/>
              <a:cxnLst/>
              <a:rect r="r" b="b" t="t" l="l"/>
              <a:pathLst>
                <a:path h="323638" w="1597196">
                  <a:moveTo>
                    <a:pt x="127663" y="0"/>
                  </a:moveTo>
                  <a:lnTo>
                    <a:pt x="1469533" y="0"/>
                  </a:lnTo>
                  <a:cubicBezTo>
                    <a:pt x="1503392" y="0"/>
                    <a:pt x="1535863" y="13450"/>
                    <a:pt x="1559805" y="37392"/>
                  </a:cubicBezTo>
                  <a:cubicBezTo>
                    <a:pt x="1583746" y="61333"/>
                    <a:pt x="1597196" y="93804"/>
                    <a:pt x="1597196" y="127663"/>
                  </a:cubicBezTo>
                  <a:lnTo>
                    <a:pt x="1597196" y="195976"/>
                  </a:lnTo>
                  <a:cubicBezTo>
                    <a:pt x="1597196" y="229834"/>
                    <a:pt x="1583746" y="262305"/>
                    <a:pt x="1559805" y="286247"/>
                  </a:cubicBezTo>
                  <a:cubicBezTo>
                    <a:pt x="1535863" y="310188"/>
                    <a:pt x="1503392" y="323638"/>
                    <a:pt x="1469533" y="323638"/>
                  </a:cubicBezTo>
                  <a:lnTo>
                    <a:pt x="127663" y="323638"/>
                  </a:lnTo>
                  <a:cubicBezTo>
                    <a:pt x="57157" y="323638"/>
                    <a:pt x="0" y="266482"/>
                    <a:pt x="0" y="195976"/>
                  </a:cubicBezTo>
                  <a:lnTo>
                    <a:pt x="0" y="127663"/>
                  </a:lnTo>
                  <a:cubicBezTo>
                    <a:pt x="0" y="93804"/>
                    <a:pt x="13450" y="61333"/>
                    <a:pt x="37392" y="37392"/>
                  </a:cubicBezTo>
                  <a:cubicBezTo>
                    <a:pt x="61333" y="13450"/>
                    <a:pt x="93804" y="0"/>
                    <a:pt x="127663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1597196" cy="418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564516" y="6953199"/>
            <a:ext cx="5053319" cy="1162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STEP 3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Mod</a:t>
            </a:r>
            <a:r>
              <a:rPr lang="en-US" sz="32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els Compared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420765" y="2505571"/>
          <a:ext cx="12779105" cy="5628284"/>
        </p:xfrm>
        <a:graphic>
          <a:graphicData uri="http://schemas.openxmlformats.org/drawingml/2006/table">
            <a:tbl>
              <a:tblPr/>
              <a:tblGrid>
                <a:gridCol w="3652591"/>
                <a:gridCol w="2555189"/>
                <a:gridCol w="2829117"/>
                <a:gridCol w="3742209"/>
              </a:tblGrid>
              <a:tr h="14854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500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FFFFFF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Model Configuration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387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R² (Log Price)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387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MAE (Rs)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387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MAPE (%)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3870"/>
                    </a:solidFill>
                  </a:tcPr>
                </a:tc>
              </a:tr>
              <a:tr h="13809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30387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Linear Regression | Baseline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30387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0.67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30387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163,000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30387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35.3%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09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30387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Random Forest | Baseline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30387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0.65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30387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166,000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30387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36.0%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09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30387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Linear Regression | Engineered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30387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0.77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30387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131,000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30387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28.9%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872174" y="935334"/>
            <a:ext cx="144832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QUANTITATIVE PERFORMANCE BENCHMARKS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55589" y="933450"/>
            <a:ext cx="12820247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DOMINANT VEHICLE PRICE FACTORS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5589" y="2555507"/>
            <a:ext cx="5716122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Vehicle Age (Car_Age)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5589" y="4587385"/>
            <a:ext cx="5716122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May 2025: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0100" y="6270929"/>
            <a:ext cx="5716122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June 2030: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00100" y="3436755"/>
            <a:ext cx="16064706" cy="171450"/>
            <a:chOff x="0" y="0"/>
            <a:chExt cx="21419609" cy="228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419609" cy="228600"/>
            </a:xfrm>
            <a:custGeom>
              <a:avLst/>
              <a:gdLst/>
              <a:ahLst/>
              <a:cxnLst/>
              <a:rect r="r" b="b" t="t" l="l"/>
              <a:pathLst>
                <a:path h="228600" w="21419609">
                  <a:moveTo>
                    <a:pt x="0" y="114300"/>
                  </a:moveTo>
                  <a:cubicBezTo>
                    <a:pt x="0" y="51181"/>
                    <a:pt x="49954" y="0"/>
                    <a:pt x="111560" y="0"/>
                  </a:cubicBezTo>
                  <a:lnTo>
                    <a:pt x="21308048" y="0"/>
                  </a:lnTo>
                  <a:cubicBezTo>
                    <a:pt x="21369654" y="0"/>
                    <a:pt x="21419609" y="51181"/>
                    <a:pt x="21419609" y="114300"/>
                  </a:cubicBezTo>
                  <a:cubicBezTo>
                    <a:pt x="21419609" y="177419"/>
                    <a:pt x="21369654" y="228600"/>
                    <a:pt x="21308048" y="228600"/>
                  </a:cubicBezTo>
                  <a:lnTo>
                    <a:pt x="111560" y="228600"/>
                  </a:lnTo>
                  <a:cubicBezTo>
                    <a:pt x="49954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00100" y="3436755"/>
            <a:ext cx="6912693" cy="171450"/>
            <a:chOff x="0" y="0"/>
            <a:chExt cx="9216923" cy="228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16898" cy="228600"/>
            </a:xfrm>
            <a:custGeom>
              <a:avLst/>
              <a:gdLst/>
              <a:ahLst/>
              <a:cxnLst/>
              <a:rect r="r" b="b" t="t" l="l"/>
              <a:pathLst>
                <a:path h="228600" w="9216898">
                  <a:moveTo>
                    <a:pt x="0" y="0"/>
                  </a:moveTo>
                  <a:lnTo>
                    <a:pt x="9216898" y="0"/>
                  </a:lnTo>
                  <a:lnTo>
                    <a:pt x="9216898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30387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00100" y="5467350"/>
            <a:ext cx="16064706" cy="199353"/>
            <a:chOff x="0" y="0"/>
            <a:chExt cx="21419609" cy="2658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419609" cy="265804"/>
            </a:xfrm>
            <a:custGeom>
              <a:avLst/>
              <a:gdLst/>
              <a:ahLst/>
              <a:cxnLst/>
              <a:rect r="r" b="b" t="t" l="l"/>
              <a:pathLst>
                <a:path h="265804" w="21419609">
                  <a:moveTo>
                    <a:pt x="0" y="132902"/>
                  </a:moveTo>
                  <a:cubicBezTo>
                    <a:pt x="0" y="59511"/>
                    <a:pt x="49954" y="0"/>
                    <a:pt x="111560" y="0"/>
                  </a:cubicBezTo>
                  <a:lnTo>
                    <a:pt x="21308048" y="0"/>
                  </a:lnTo>
                  <a:cubicBezTo>
                    <a:pt x="21369654" y="0"/>
                    <a:pt x="21419609" y="59511"/>
                    <a:pt x="21419609" y="132902"/>
                  </a:cubicBezTo>
                  <a:cubicBezTo>
                    <a:pt x="21419609" y="206294"/>
                    <a:pt x="21369654" y="265804"/>
                    <a:pt x="21308048" y="265804"/>
                  </a:cubicBezTo>
                  <a:lnTo>
                    <a:pt x="111560" y="265804"/>
                  </a:lnTo>
                  <a:cubicBezTo>
                    <a:pt x="49954" y="265804"/>
                    <a:pt x="0" y="206294"/>
                    <a:pt x="0" y="132902"/>
                  </a:cubicBez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55589" y="7179469"/>
            <a:ext cx="16064706" cy="199353"/>
            <a:chOff x="0" y="0"/>
            <a:chExt cx="21419609" cy="2658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419609" cy="265804"/>
            </a:xfrm>
            <a:custGeom>
              <a:avLst/>
              <a:gdLst/>
              <a:ahLst/>
              <a:cxnLst/>
              <a:rect r="r" b="b" t="t" l="l"/>
              <a:pathLst>
                <a:path h="265804" w="21419609">
                  <a:moveTo>
                    <a:pt x="0" y="132902"/>
                  </a:moveTo>
                  <a:cubicBezTo>
                    <a:pt x="0" y="59511"/>
                    <a:pt x="49954" y="0"/>
                    <a:pt x="111560" y="0"/>
                  </a:cubicBezTo>
                  <a:lnTo>
                    <a:pt x="21308048" y="0"/>
                  </a:lnTo>
                  <a:cubicBezTo>
                    <a:pt x="21369654" y="0"/>
                    <a:pt x="21419609" y="59511"/>
                    <a:pt x="21419609" y="132902"/>
                  </a:cubicBezTo>
                  <a:cubicBezTo>
                    <a:pt x="21419609" y="206294"/>
                    <a:pt x="21369654" y="265804"/>
                    <a:pt x="21308048" y="265804"/>
                  </a:cubicBezTo>
                  <a:lnTo>
                    <a:pt x="111560" y="265804"/>
                  </a:lnTo>
                  <a:cubicBezTo>
                    <a:pt x="49954" y="265804"/>
                    <a:pt x="0" y="206294"/>
                    <a:pt x="0" y="132902"/>
                  </a:cubicBez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55589" y="5495253"/>
            <a:ext cx="4608386" cy="171450"/>
            <a:chOff x="0" y="0"/>
            <a:chExt cx="6144514" cy="228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44514" cy="228600"/>
            </a:xfrm>
            <a:custGeom>
              <a:avLst/>
              <a:gdLst/>
              <a:ahLst/>
              <a:cxnLst/>
              <a:rect r="r" b="b" t="t" l="l"/>
              <a:pathLst>
                <a:path h="228600" w="6144514">
                  <a:moveTo>
                    <a:pt x="0" y="0"/>
                  </a:moveTo>
                  <a:lnTo>
                    <a:pt x="6144514" y="0"/>
                  </a:lnTo>
                  <a:lnTo>
                    <a:pt x="6144514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0369A1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00100" y="7150894"/>
            <a:ext cx="2633367" cy="171450"/>
            <a:chOff x="0" y="0"/>
            <a:chExt cx="3511156" cy="228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511169" cy="228600"/>
            </a:xfrm>
            <a:custGeom>
              <a:avLst/>
              <a:gdLst/>
              <a:ahLst/>
              <a:cxnLst/>
              <a:rect r="r" b="b" t="t" l="l"/>
              <a:pathLst>
                <a:path h="228600" w="3511169">
                  <a:moveTo>
                    <a:pt x="0" y="0"/>
                  </a:moveTo>
                  <a:lnTo>
                    <a:pt x="3511169" y="0"/>
                  </a:lnTo>
                  <a:lnTo>
                    <a:pt x="3511169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55589" y="7978898"/>
            <a:ext cx="5716122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June 2030: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00100" y="8858863"/>
            <a:ext cx="16064706" cy="199353"/>
            <a:chOff x="0" y="0"/>
            <a:chExt cx="21419609" cy="2658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419609" cy="265804"/>
            </a:xfrm>
            <a:custGeom>
              <a:avLst/>
              <a:gdLst/>
              <a:ahLst/>
              <a:cxnLst/>
              <a:rect r="r" b="b" t="t" l="l"/>
              <a:pathLst>
                <a:path h="265804" w="21419609">
                  <a:moveTo>
                    <a:pt x="0" y="132902"/>
                  </a:moveTo>
                  <a:cubicBezTo>
                    <a:pt x="0" y="59511"/>
                    <a:pt x="49954" y="0"/>
                    <a:pt x="111560" y="0"/>
                  </a:cubicBezTo>
                  <a:lnTo>
                    <a:pt x="21308048" y="0"/>
                  </a:lnTo>
                  <a:cubicBezTo>
                    <a:pt x="21369654" y="0"/>
                    <a:pt x="21419609" y="59511"/>
                    <a:pt x="21419609" y="132902"/>
                  </a:cubicBezTo>
                  <a:cubicBezTo>
                    <a:pt x="21419609" y="206294"/>
                    <a:pt x="21369654" y="265804"/>
                    <a:pt x="21308048" y="265804"/>
                  </a:cubicBezTo>
                  <a:lnTo>
                    <a:pt x="111560" y="265804"/>
                  </a:lnTo>
                  <a:cubicBezTo>
                    <a:pt x="49954" y="265804"/>
                    <a:pt x="0" y="206294"/>
                    <a:pt x="0" y="132902"/>
                  </a:cubicBez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5589" y="8858863"/>
            <a:ext cx="2304078" cy="171450"/>
            <a:chOff x="0" y="0"/>
            <a:chExt cx="3072105" cy="228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72130" cy="228600"/>
            </a:xfrm>
            <a:custGeom>
              <a:avLst/>
              <a:gdLst/>
              <a:ahLst/>
              <a:cxnLst/>
              <a:rect r="r" b="b" t="t" l="l"/>
              <a:pathLst>
                <a:path h="228600" w="3072130">
                  <a:moveTo>
                    <a:pt x="0" y="0"/>
                  </a:moveTo>
                  <a:lnTo>
                    <a:pt x="3072130" y="0"/>
                  </a:lnTo>
                  <a:lnTo>
                    <a:pt x="307213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98DCFF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4962623" y="2876427"/>
            <a:ext cx="185767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42% Impact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962623" y="4781550"/>
            <a:ext cx="184844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28</a:t>
            </a:r>
            <a:r>
              <a:rPr lang="en-US" sz="2499" b="true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% Impact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962623" y="6686673"/>
            <a:ext cx="178459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16</a:t>
            </a:r>
            <a:r>
              <a:rPr lang="en-US" sz="2499" b="true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% Impact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298928" y="8358801"/>
            <a:ext cx="356587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  <a:r>
              <a:rPr lang="en-US" sz="2499" b="true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4% Combined Impact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90478" y="6716468"/>
            <a:ext cx="2671762" cy="628650"/>
            <a:chOff x="0" y="0"/>
            <a:chExt cx="3562350" cy="83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62350" cy="838200"/>
            </a:xfrm>
            <a:custGeom>
              <a:avLst/>
              <a:gdLst/>
              <a:ahLst/>
              <a:cxnLst/>
              <a:rect r="r" b="b" t="t" l="l"/>
              <a:pathLst>
                <a:path h="838200" w="3562350">
                  <a:moveTo>
                    <a:pt x="0" y="419100"/>
                  </a:moveTo>
                  <a:cubicBezTo>
                    <a:pt x="0" y="187579"/>
                    <a:pt x="187579" y="0"/>
                    <a:pt x="419100" y="0"/>
                  </a:cubicBezTo>
                  <a:lnTo>
                    <a:pt x="3143250" y="0"/>
                  </a:lnTo>
                  <a:cubicBezTo>
                    <a:pt x="3374771" y="0"/>
                    <a:pt x="3562350" y="187579"/>
                    <a:pt x="3562350" y="419100"/>
                  </a:cubicBezTo>
                  <a:cubicBezTo>
                    <a:pt x="3562350" y="650621"/>
                    <a:pt x="3374771" y="838200"/>
                    <a:pt x="3143250" y="838200"/>
                  </a:cubicBezTo>
                  <a:lnTo>
                    <a:pt x="419100" y="838200"/>
                  </a:lnTo>
                  <a:cubicBezTo>
                    <a:pt x="187579" y="838200"/>
                    <a:pt x="0" y="650621"/>
                    <a:pt x="0" y="419100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0" y="6716468"/>
            <a:ext cx="3386138" cy="628650"/>
            <a:chOff x="0" y="0"/>
            <a:chExt cx="4514850" cy="838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14850" cy="838200"/>
            </a:xfrm>
            <a:custGeom>
              <a:avLst/>
              <a:gdLst/>
              <a:ahLst/>
              <a:cxnLst/>
              <a:rect r="r" b="b" t="t" l="l"/>
              <a:pathLst>
                <a:path h="838200" w="4514850">
                  <a:moveTo>
                    <a:pt x="0" y="419100"/>
                  </a:moveTo>
                  <a:cubicBezTo>
                    <a:pt x="0" y="187579"/>
                    <a:pt x="187579" y="0"/>
                    <a:pt x="419100" y="0"/>
                  </a:cubicBezTo>
                  <a:lnTo>
                    <a:pt x="4095750" y="0"/>
                  </a:lnTo>
                  <a:cubicBezTo>
                    <a:pt x="4327271" y="0"/>
                    <a:pt x="4514850" y="187579"/>
                    <a:pt x="4514850" y="419100"/>
                  </a:cubicBezTo>
                  <a:cubicBezTo>
                    <a:pt x="4514850" y="650621"/>
                    <a:pt x="4327271" y="838200"/>
                    <a:pt x="4095750" y="838200"/>
                  </a:cubicBezTo>
                  <a:lnTo>
                    <a:pt x="419100" y="838200"/>
                  </a:lnTo>
                  <a:cubicBezTo>
                    <a:pt x="187579" y="838200"/>
                    <a:pt x="0" y="650621"/>
                    <a:pt x="0" y="419100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2293693"/>
            <a:ext cx="16877109" cy="60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8"/>
              </a:lnSpc>
            </a:pPr>
            <a:r>
              <a:rPr lang="en-US" b="true" sz="3999">
                <a:solidFill>
                  <a:srgbClr val="303870"/>
                </a:solidFill>
                <a:latin typeface="Arimo Bold"/>
                <a:ea typeface="Arimo Bold"/>
                <a:cs typeface="Arimo Bold"/>
                <a:sym typeface="Arimo Bold"/>
              </a:rPr>
              <a:t>Feature Engineering Outweighs Algorithm Selection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07406" y="3517351"/>
            <a:ext cx="13573125" cy="207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3500">
                <a:solidFill>
                  <a:srgbClr val="303870"/>
                </a:solidFill>
                <a:latin typeface="Inter"/>
                <a:ea typeface="Inter"/>
                <a:cs typeface="Inter"/>
                <a:sym typeface="Inter"/>
              </a:rPr>
              <a:t>Deriving explicit temporal metrics (Car_Age) and standardizing high-cardinality brands drops valuation error (MAPE) from 36% to 28% regardless of model architecture.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26196" y="6895062"/>
            <a:ext cx="2636044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+10% R² Score Gain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01125" y="6895062"/>
            <a:ext cx="3529012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-32,000 Rs MAE Reduction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DAHYOk_tlys</dc:identifier>
  <dcterms:modified xsi:type="dcterms:W3CDTF">2011-08-01T06:04:30Z</dcterms:modified>
  <cp:revision>1</cp:revision>
  <dc:title>Blue and Beige Simple Project Proposal Presentation</dc:title>
</cp:coreProperties>
</file>